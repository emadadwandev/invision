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FF6A3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937760" cy="4937760"/>
          </a:xfrm>
          <a:prstGeom prst="ellipse">
            <a:avLst/>
          </a:prstGeom>
          <a:solidFill>
            <a:srgbClr val="3A3F4E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9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&amp; CAFE OPERATIONS PLATFORM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Restro</a:t>
            </a:r>
            <a:pPr indent="0" marL="0">
              <a:buNone/>
            </a:pPr>
            <a:r>
              <a:rPr lang="en-US" sz="6600" b="1" dirty="0">
                <a:solidFill>
                  <a:srgbClr val="FF6A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to run every order, every station, every location — in real time.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242835"/>
          </a:solidFill>
          <a:ln w="12700">
            <a:solidFill>
              <a:srgbClr val="343A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4402836"/>
            <a:ext cx="566928" cy="566928"/>
          </a:xfrm>
          <a:prstGeom prst="ellipse">
            <a:avLst/>
          </a:prstGeom>
          <a:solidFill>
            <a:srgbClr val="FF6A39"/>
          </a:solidFill>
          <a:ln/>
        </p:spPr>
      </p:sp>
      <p:pic>
        <p:nvPicPr>
          <p:cNvPr id="9" name="Image 0" descr="/tmp/build/icons/cashregist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829" y="4476537"/>
            <a:ext cx="419527" cy="41952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19072" y="441655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410712" y="416052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242835"/>
          </a:solidFill>
          <a:ln w="12700">
            <a:solidFill>
              <a:srgbClr val="343A4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11880" y="4402836"/>
            <a:ext cx="566928" cy="566928"/>
          </a:xfrm>
          <a:prstGeom prst="ellipse">
            <a:avLst/>
          </a:prstGeom>
          <a:solidFill>
            <a:srgbClr val="FF6A39"/>
          </a:solidFill>
          <a:ln/>
        </p:spPr>
      </p:sp>
      <p:pic>
        <p:nvPicPr>
          <p:cNvPr id="13" name="Image 1" descr="/tmp/build/icons/fir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581" y="4476537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06824" y="441655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998464" y="416052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242835"/>
          </a:solidFill>
          <a:ln w="12700">
            <a:solidFill>
              <a:srgbClr val="343A4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99632" y="4402836"/>
            <a:ext cx="566928" cy="566928"/>
          </a:xfrm>
          <a:prstGeom prst="ellipse">
            <a:avLst/>
          </a:prstGeom>
          <a:solidFill>
            <a:srgbClr val="FF6A39"/>
          </a:solidFill>
          <a:ln/>
        </p:spPr>
      </p:sp>
      <p:pic>
        <p:nvPicPr>
          <p:cNvPr id="17" name="Image 2" descr="/tmp/build/icons/deskto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333" y="4476537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94576" y="441655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8586216" y="416052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242835"/>
          </a:solidFill>
          <a:ln w="12700">
            <a:solidFill>
              <a:srgbClr val="343A4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787384" y="4402836"/>
            <a:ext cx="566928" cy="566928"/>
          </a:xfrm>
          <a:prstGeom prst="ellipse">
            <a:avLst/>
          </a:prstGeom>
          <a:solidFill>
            <a:srgbClr val="FF6A39"/>
          </a:solidFill>
          <a:ln/>
        </p:spPr>
      </p:sp>
      <p:pic>
        <p:nvPicPr>
          <p:cNvPr id="21" name="Image 3" descr="/tmp/build/icons/table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1085" y="4476537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82328" y="441655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22960" y="5989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restrogrid.com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253935" y="59893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Kitchen Operations 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Restaurants run on five systems that don't talk to each other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" cy="512064"/>
          </a:xfrm>
          <a:prstGeom prst="ellipse">
            <a:avLst/>
          </a:prstGeom>
          <a:solidFill>
            <a:srgbClr val="1B1E27"/>
          </a:solidFill>
          <a:ln/>
        </p:spPr>
      </p:sp>
      <p:pic>
        <p:nvPicPr>
          <p:cNvPr id="5" name="Image 0" descr="/tmp/build/icons/sync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2032528"/>
            <a:ext cx="378927" cy="3789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11096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re-typed between POS and kitchen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71600" y="225856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hand-offs from till to ticket cause delays and mistakes.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807208"/>
            <a:ext cx="512064" cy="512064"/>
          </a:xfrm>
          <a:prstGeom prst="ellipse">
            <a:avLst/>
          </a:prstGeom>
          <a:solidFill>
            <a:srgbClr val="1B1E27"/>
          </a:solidFill>
          <a:ln/>
        </p:spPr>
      </p:sp>
      <p:pic>
        <p:nvPicPr>
          <p:cNvPr id="9" name="Image 1" descr="/tmp/build/icons/c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48" y="2873776"/>
            <a:ext cx="378927" cy="3789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75234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71600" y="3099816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can't see what's cooking, what's ready, or what's stuck.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648456"/>
            <a:ext cx="512064" cy="512064"/>
          </a:xfrm>
          <a:prstGeom prst="ellipse">
            <a:avLst/>
          </a:prstGeom>
          <a:solidFill>
            <a:srgbClr val="1B1E27"/>
          </a:solidFill>
          <a:ln/>
        </p:spPr>
      </p:sp>
      <p:pic>
        <p:nvPicPr>
          <p:cNvPr id="13" name="Image 2" descr="/tmp/build/icons/us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3715024"/>
            <a:ext cx="378927" cy="3789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59359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coordination by shouting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71600" y="394106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Grill, fryer, prep and cabinet teams have no shared source of truth.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489704"/>
            <a:ext cx="512064" cy="512064"/>
          </a:xfrm>
          <a:prstGeom prst="ellipse">
            <a:avLst/>
          </a:prstGeom>
          <a:solidFill>
            <a:srgbClr val="1B1E27"/>
          </a:solidFill>
          <a:ln/>
        </p:spPr>
      </p:sp>
      <p:pic>
        <p:nvPicPr>
          <p:cNvPr id="17" name="Image 3" descr="/tmp/build/icons/bell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48" y="4556272"/>
            <a:ext cx="378927" cy="37892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434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left guessing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71600" y="478231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status means constant “is my order ready?” interruptions.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0080" y="5330952"/>
            <a:ext cx="512064" cy="512064"/>
          </a:xfrm>
          <a:prstGeom prst="ellipse">
            <a:avLst/>
          </a:prstGeom>
          <a:solidFill>
            <a:srgbClr val="1B1E27"/>
          </a:solidFill>
          <a:ln/>
        </p:spPr>
      </p:sp>
      <p:pic>
        <p:nvPicPr>
          <p:cNvPr id="21" name="Image 4" descr="/tmp/build/icons/mapmarker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648" y="5397520"/>
            <a:ext cx="378927" cy="37892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71600" y="527608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 chaos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371600" y="56235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branch runs its own disconnected process and reporting.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RESTROGRID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3157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unified system, four connected experiences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POS, KDS, CDS and Kiosk Ordering all read and write to the same real-time order and station data.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4F5F7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441448"/>
            <a:ext cx="603504" cy="603504"/>
          </a:xfrm>
          <a:prstGeom prst="ellipse">
            <a:avLst/>
          </a:prstGeom>
          <a:solidFill>
            <a:srgbClr val="FF6A39"/>
          </a:solidFill>
          <a:ln/>
        </p:spPr>
      </p:sp>
      <p:pic>
        <p:nvPicPr>
          <p:cNvPr id="7" name="Image 0" descr="/tmp/build/icons/cashregist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144" y="2519904"/>
            <a:ext cx="446593" cy="4465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19072" y="2423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32688" y="3108960"/>
            <a:ext cx="4535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dine-in, takeaway and delivery orders, split bills, run payments and print receipts.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26480" y="214884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4F5F7"/>
          </a:solidFill>
          <a:ln/>
        </p:spPr>
      </p:sp>
      <p:sp>
        <p:nvSpPr>
          <p:cNvPr id="11" name="Shape 8"/>
          <p:cNvSpPr/>
          <p:nvPr/>
        </p:nvSpPr>
        <p:spPr>
          <a:xfrm>
            <a:off x="6419088" y="2441448"/>
            <a:ext cx="603504" cy="603504"/>
          </a:xfrm>
          <a:prstGeom prst="ellipse">
            <a:avLst/>
          </a:prstGeom>
          <a:solidFill>
            <a:srgbClr val="FF6A39"/>
          </a:solidFill>
          <a:ln/>
        </p:spPr>
      </p:sp>
      <p:pic>
        <p:nvPicPr>
          <p:cNvPr id="12" name="Image 1" descr="/tmp/build/icons/fir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544" y="2519904"/>
            <a:ext cx="446593" cy="4465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05472" y="2423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KDS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419088" y="3108960"/>
            <a:ext cx="4535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tickets to grill, fryer, prep and cabinet stations with live cook timers.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25196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4F5F7"/>
          </a:solidFill>
          <a:ln/>
        </p:spPr>
      </p:sp>
      <p:sp>
        <p:nvSpPr>
          <p:cNvPr id="16" name="Shape 12"/>
          <p:cNvSpPr/>
          <p:nvPr/>
        </p:nvSpPr>
        <p:spPr>
          <a:xfrm>
            <a:off x="932688" y="4544568"/>
            <a:ext cx="603504" cy="603504"/>
          </a:xfrm>
          <a:prstGeom prst="ellipse">
            <a:avLst/>
          </a:prstGeom>
          <a:solidFill>
            <a:srgbClr val="FF6A39"/>
          </a:solidFill>
          <a:ln/>
        </p:spPr>
      </p:sp>
      <p:pic>
        <p:nvPicPr>
          <p:cNvPr id="17" name="Image 2" descr="/tmp/build/icons/deskto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44" y="4623024"/>
            <a:ext cx="446593" cy="4465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19072" y="4526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CDS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932688" y="5212080"/>
            <a:ext cx="4535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no-login order board customers watch as their food moves toward ready.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26480" y="425196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4F5F7"/>
          </a:solidFill>
          <a:ln/>
        </p:spPr>
      </p:sp>
      <p:sp>
        <p:nvSpPr>
          <p:cNvPr id="21" name="Shape 16"/>
          <p:cNvSpPr/>
          <p:nvPr/>
        </p:nvSpPr>
        <p:spPr>
          <a:xfrm>
            <a:off x="6419088" y="4544568"/>
            <a:ext cx="603504" cy="603504"/>
          </a:xfrm>
          <a:prstGeom prst="ellipse">
            <a:avLst/>
          </a:prstGeom>
          <a:solidFill>
            <a:srgbClr val="FF6A39"/>
          </a:solidFill>
          <a:ln/>
        </p:spPr>
      </p:sp>
      <p:pic>
        <p:nvPicPr>
          <p:cNvPr id="22" name="Image 3" descr="/tmp/build/icons/table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544" y="4623024"/>
            <a:ext cx="446593" cy="4465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05472" y="4526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Kiosk Ordering</a:t>
            </a:r>
            <a:endParaRPr lang="en-US" sz="1900" dirty="0"/>
          </a:p>
        </p:txBody>
      </p:sp>
      <p:sp>
        <p:nvSpPr>
          <p:cNvPr id="24" name="Text 18"/>
          <p:cNvSpPr/>
          <p:nvPr/>
        </p:nvSpPr>
        <p:spPr>
          <a:xfrm>
            <a:off x="6419088" y="5212080"/>
            <a:ext cx="4535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ordering terminals that fire straight into the kitchen and POS.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RESTROGRID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3157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1B1E27"/>
          </a:solidFill>
          <a:ln/>
        </p:spPr>
      </p:sp>
      <p:pic>
        <p:nvPicPr>
          <p:cNvPr id="3" name="Image 0" descr="/tmp/build/icons/cashregist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21" y="603961"/>
            <a:ext cx="575158" cy="57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120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 HOUSE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600200" y="78638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 — built for full-service restaurants and cafes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5087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Dine-in, takeaway and delivery in one register, with everything a cashier needs to close a check fast.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31343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8" name="Image 1" descr="/tmp/build/icons/chair_FF6A3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23728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61872" y="223113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management &amp; split bills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261872" y="255117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table status, seat sections, and split or merge checks.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63640" y="231343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12" name="Image 2" descr="/tmp/build/icons/boxes_FF6A3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2372868"/>
            <a:ext cx="338328" cy="3383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85432" y="223113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Modifiers, combos &amp; categories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885432" y="255117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modifiers, combo items and full menu catalog control.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40080" y="327355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16" name="Image 3" descr="/tmp/build/icons/creditcard_FF6A3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3332988"/>
            <a:ext cx="338328" cy="3383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61872" y="319125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payments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261872" y="351129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card and mobile wallet, with configurable tax rates.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263640" y="327355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20" name="Image 4" descr="/tmp/build/icons/giftcard_FF6A3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076" y="3332988"/>
            <a:ext cx="338328" cy="33832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85432" y="319125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cards &amp; customer profiles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6885432" y="351129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balances, order history and loyalty points per customer.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40080" y="423367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24" name="Image 5" descr="/tmp/build/icons/receipt_FF6A3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" y="4293108"/>
            <a:ext cx="338328" cy="33832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61872" y="415137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drawer &amp; shift reports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1261872" y="447141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 shifts, cash drops, and variance reporting.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6263640" y="423367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28" name="Image 6" descr="/tmp/build/icons/print_FF6A3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3076" y="4293108"/>
            <a:ext cx="338328" cy="33832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885432" y="415137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receipts &amp; Jofotara e-invoicing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6885432" y="447141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printing plus Jordan tax-authority e-invoice integration.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RESTROGRID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23157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1B1E27"/>
          </a:solidFill>
          <a:ln/>
        </p:spPr>
      </p:sp>
      <p:pic>
        <p:nvPicPr>
          <p:cNvPr id="3" name="Image 0" descr="/tmp/build/icons/fir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21" y="603961"/>
            <a:ext cx="575158" cy="57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120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 HOUSE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600200" y="78638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KDS — real-time kitchen display &amp; batch cooking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5087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ticket is routed to the right station the instant it fires, with live timers through a two-phase cook.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31343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8" name="Image 1" descr="/tmp/build/icons/layer_FF6A3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23728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61872" y="223113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Multi-station order routing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261872" y="255117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Grill, fryer, prep, rice and hot-cabinet stations each see only their items.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63640" y="231343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12" name="Image 2" descr="/tmp/build/icons/temperaturehigh_FF6A3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2372868"/>
            <a:ext cx="338328" cy="3383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85432" y="223113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batch cooking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885432" y="255117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move from grill locations to hot-cabinet shelves with tracked transfers.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40080" y="327355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16" name="Image 3" descr="/tmp/build/icons/hourglass_FF6A3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3332988"/>
            <a:ext cx="338328" cy="3383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61872" y="319125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cook timers &amp; alerts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261872" y="351129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Per-batch and per-order timers flag aging tickets before they're late.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263640" y="327355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20" name="Image 4" descr="/tmp/build/icons/bolt_FF6A3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076" y="3332988"/>
            <a:ext cx="338328" cy="33832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85432" y="319125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WebSocket updates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6885432" y="351129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Pusher-powered sync pushes status changes to every screen in real time.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40080" y="423367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24" name="Image 5" descr="/tmp/build/icons/sync_FF6A3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" y="4293108"/>
            <a:ext cx="338328" cy="33832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61872" y="415137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POS-synced tickets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1261872" y="447141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from Revel and Loyverse land on the KDS automatically.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6263640" y="423367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28" name="Image 6" descr="/tmp/build/icons/check_FF6A3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3076" y="4293108"/>
            <a:ext cx="338328" cy="33832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885432" y="415137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AM business-day logic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6885432" y="447141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Late-night service is tracked correctly instead of resetting at midnight.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RESTROGRID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23157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1B1E27"/>
          </a:solidFill>
          <a:ln/>
        </p:spPr>
      </p:sp>
      <p:pic>
        <p:nvPicPr>
          <p:cNvPr id="3" name="Image 0" descr="/tmp/build/icons/deskto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21" y="603961"/>
            <a:ext cx="575158" cy="57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120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FACING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600200" y="78638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CDS — the live order status board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5087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full-screen, kiosk-style monitor customers can check without logging in — cutting “is it ready yet?” interruptions.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31343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8" name="Image 1" descr="/tmp/build/icons/bell_FF6A3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23728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61872" y="223113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vs. in-progress views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261872" y="255117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green “Ready for Pickup” and orange “In Progress” sections.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63640" y="231343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12" name="Image 2" descr="/tmp/build/icons/clock_FF6A3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2372868"/>
            <a:ext cx="338328" cy="3383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85432" y="223113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Auto-refreshing, no login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885432" y="255117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every 10 seconds; customers tap in from the location screen.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40080" y="327355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16" name="Image 3" descr="/tmp/build/icons/qrcode_FF6A3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3332988"/>
            <a:ext cx="338328" cy="3383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61872" y="319125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numbers &amp; item counts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261872" y="351129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order call number, customer name, time and item count.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263640" y="327355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20" name="Image 4" descr="/tmp/build/icons/desktop_FF6A3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076" y="3332988"/>
            <a:ext cx="338328" cy="33832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85432" y="319125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full-screen kiosk mode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6885432" y="351129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 display hides system UI for a professional, distraction-free board.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40080" y="423367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24" name="Image 5" descr="/tmp/build/icons/sync_FF6A3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" y="4293108"/>
            <a:ext cx="338328" cy="33832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61872" y="415137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as the kitchen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1261872" y="447141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live from the same KDS order feed — always accurate, never stale.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6263640" y="423367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28" name="Image 6" descr="/tmp/build/icons/check_FF6A3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3076" y="4293108"/>
            <a:ext cx="338328" cy="33832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885432" y="415137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Auto-clears on completion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6885432" y="447141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disappear from the board the moment staff mark them complete.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RESTROGRID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23157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1B1E27"/>
          </a:solidFill>
          <a:ln/>
        </p:spPr>
      </p:sp>
      <p:pic>
        <p:nvPicPr>
          <p:cNvPr id="3" name="Image 0" descr="/tmp/build/icons/tabl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21" y="603961"/>
            <a:ext cx="575158" cy="57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120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600200" y="78638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Kiosk Ordering — self-service, kitchen-connected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5087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Self-order terminals feed directly into the same order pipeline as the register, so no order is ever re-keyed.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31343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8" name="Image 1" descr="/tmp/build/icons/tablet_FF6A3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23728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61872" y="223113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order entry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261872" y="255117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browse the menu and place dine-in or takeaway orders directly.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63640" y="231343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12" name="Image 2" descr="/tmp/build/icons/sync_FF6A3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2372868"/>
            <a:ext cx="338328" cy="3383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85432" y="223113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Direct-to-kitchen firing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885432" y="255117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 orders post straight to POS and KDS — no cashier re-entry.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40080" y="327355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16" name="Image 3" descr="/tmp/build/icons/users_FF6A3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3332988"/>
            <a:ext cx="338328" cy="3383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61872" y="319125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lines, less staffing pressure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261872" y="351129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cashiers for service while peak-hour volume self-serves.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263640" y="327355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20" name="Image 4" descr="/tmp/build/icons/desktop_FF6A3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076" y="3332988"/>
            <a:ext cx="338328" cy="33832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85432" y="319125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loop with CDS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6885432" y="351129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place an order at the kiosk, then track it on the order monitor.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40080" y="423367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24" name="Image 5" descr="/tmp/build/icons/boxes_FF6A3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" y="4293108"/>
            <a:ext cx="338328" cy="33832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61872" y="415137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modifier &amp; combo support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1261872" y="447141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product, modifier and combo catalog as POS — one menu, everywhere.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6263640" y="423367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28" name="Image 6" descr="/tmp/build/icons/mapmarker_FF6A3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3076" y="4293108"/>
            <a:ext cx="338328" cy="33832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885432" y="415137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Per-location configuration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6885432" y="447141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Menu, pricing and availability follow each location's own setup.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RESTROGRID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23157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OPERATIONS ENGINE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around how batch-cooked kitchens actually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batch is tracked through a two-phase cook — from grill placement to hot-cabinet hold to ready-for-sale.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874520" cy="2148840"/>
          </a:xfrm>
          <a:prstGeom prst="roundRect">
            <a:avLst>
              <a:gd name="adj" fmla="val 3902"/>
            </a:avLst>
          </a:prstGeom>
          <a:solidFill>
            <a:srgbClr val="F4F5F7"/>
          </a:solidFill>
          <a:ln/>
        </p:spPr>
      </p:sp>
      <p:sp>
        <p:nvSpPr>
          <p:cNvPr id="6" name="Shape 4"/>
          <p:cNvSpPr/>
          <p:nvPr/>
        </p:nvSpPr>
        <p:spPr>
          <a:xfrm>
            <a:off x="1293876" y="2587752"/>
            <a:ext cx="566928" cy="566928"/>
          </a:xfrm>
          <a:prstGeom prst="ellipse">
            <a:avLst/>
          </a:prstGeom>
          <a:solidFill>
            <a:srgbClr val="1B1E27"/>
          </a:solidFill>
          <a:ln/>
        </p:spPr>
      </p:sp>
      <p:pic>
        <p:nvPicPr>
          <p:cNvPr id="7" name="Image 0" descr="/tmp/build/icons/boxe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7577" y="2661453"/>
            <a:ext cx="419527" cy="4195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57400" y="2404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32644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Created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363016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 station opens a new cooking batch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474595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891790" y="2331720"/>
            <a:ext cx="1874520" cy="2148840"/>
          </a:xfrm>
          <a:prstGeom prst="roundRect">
            <a:avLst>
              <a:gd name="adj" fmla="val 3902"/>
            </a:avLst>
          </a:prstGeom>
          <a:solidFill>
            <a:srgbClr val="F4F5F7"/>
          </a:solidFill>
          <a:ln/>
        </p:spPr>
      </p:sp>
      <p:sp>
        <p:nvSpPr>
          <p:cNvPr id="13" name="Shape 10"/>
          <p:cNvSpPr/>
          <p:nvPr/>
        </p:nvSpPr>
        <p:spPr>
          <a:xfrm>
            <a:off x="3545586" y="2587752"/>
            <a:ext cx="566928" cy="566928"/>
          </a:xfrm>
          <a:prstGeom prst="ellipse">
            <a:avLst/>
          </a:prstGeom>
          <a:solidFill>
            <a:srgbClr val="1B1E27"/>
          </a:solidFill>
          <a:ln/>
        </p:spPr>
      </p:sp>
      <p:pic>
        <p:nvPicPr>
          <p:cNvPr id="14" name="Image 1" descr="/tmp/build/icons/fir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287" y="2661453"/>
            <a:ext cx="419527" cy="41952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09110" y="2404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028950" y="32644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Grill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028950" y="363016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a grill location (A1–B2), timer starts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726305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5143500" y="2331720"/>
            <a:ext cx="1874520" cy="2148840"/>
          </a:xfrm>
          <a:prstGeom prst="roundRect">
            <a:avLst>
              <a:gd name="adj" fmla="val 3902"/>
            </a:avLst>
          </a:prstGeom>
          <a:solidFill>
            <a:srgbClr val="F4F5F7"/>
          </a:solidFill>
          <a:ln/>
        </p:spPr>
      </p:sp>
      <p:sp>
        <p:nvSpPr>
          <p:cNvPr id="20" name="Shape 16"/>
          <p:cNvSpPr/>
          <p:nvPr/>
        </p:nvSpPr>
        <p:spPr>
          <a:xfrm>
            <a:off x="5797296" y="2587752"/>
            <a:ext cx="566928" cy="566928"/>
          </a:xfrm>
          <a:prstGeom prst="ellipse">
            <a:avLst/>
          </a:prstGeom>
          <a:solidFill>
            <a:srgbClr val="1B1E27"/>
          </a:solidFill>
          <a:ln/>
        </p:spPr>
      </p:sp>
      <p:pic>
        <p:nvPicPr>
          <p:cNvPr id="21" name="Image 2" descr="/tmp/build/icons/sync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997" y="2661453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60820" y="2404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280660" y="32644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280660" y="363016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or partial move to hot cabinet, logged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978015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1"/>
          <p:cNvSpPr/>
          <p:nvPr/>
        </p:nvSpPr>
        <p:spPr>
          <a:xfrm>
            <a:off x="7395210" y="2331720"/>
            <a:ext cx="1874520" cy="2148840"/>
          </a:xfrm>
          <a:prstGeom prst="roundRect">
            <a:avLst>
              <a:gd name="adj" fmla="val 3902"/>
            </a:avLst>
          </a:prstGeom>
          <a:solidFill>
            <a:srgbClr val="F4F5F7"/>
          </a:solidFill>
          <a:ln/>
        </p:spPr>
      </p:sp>
      <p:sp>
        <p:nvSpPr>
          <p:cNvPr id="27" name="Shape 22"/>
          <p:cNvSpPr/>
          <p:nvPr/>
        </p:nvSpPr>
        <p:spPr>
          <a:xfrm>
            <a:off x="8049006" y="2587752"/>
            <a:ext cx="566928" cy="566928"/>
          </a:xfrm>
          <a:prstGeom prst="ellipse">
            <a:avLst/>
          </a:prstGeom>
          <a:solidFill>
            <a:srgbClr val="1B1E27"/>
          </a:solidFill>
          <a:ln/>
        </p:spPr>
      </p:sp>
      <p:pic>
        <p:nvPicPr>
          <p:cNvPr id="28" name="Image 3" descr="/tmp/build/icons/temperaturehigh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707" y="2661453"/>
            <a:ext cx="419527" cy="419527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812530" y="2404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7532370" y="32644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Cabinet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7532370" y="363016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on a tracked shelf, continues cooking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9229725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3" name="Shape 27"/>
          <p:cNvSpPr/>
          <p:nvPr/>
        </p:nvSpPr>
        <p:spPr>
          <a:xfrm>
            <a:off x="9646920" y="2331720"/>
            <a:ext cx="1874520" cy="2148840"/>
          </a:xfrm>
          <a:prstGeom prst="roundRect">
            <a:avLst>
              <a:gd name="adj" fmla="val 3902"/>
            </a:avLst>
          </a:prstGeom>
          <a:solidFill>
            <a:srgbClr val="F4F5F7"/>
          </a:solidFill>
          <a:ln/>
        </p:spPr>
      </p:sp>
      <p:sp>
        <p:nvSpPr>
          <p:cNvPr id="34" name="Shape 28"/>
          <p:cNvSpPr/>
          <p:nvPr/>
        </p:nvSpPr>
        <p:spPr>
          <a:xfrm>
            <a:off x="10300716" y="2587752"/>
            <a:ext cx="566928" cy="566928"/>
          </a:xfrm>
          <a:prstGeom prst="ellipse">
            <a:avLst/>
          </a:prstGeom>
          <a:solidFill>
            <a:srgbClr val="1B1E27"/>
          </a:solidFill>
          <a:ln/>
        </p:spPr>
      </p:sp>
      <p:pic>
        <p:nvPicPr>
          <p:cNvPr id="35" name="Image 4" descr="/tmp/build/icons/che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4417" y="2661453"/>
            <a:ext cx="419527" cy="419527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1064240" y="2404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9784080" y="32644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&amp; Sold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9784080" y="363016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ready, sold at cashier or picked up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640080" y="4892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 locations are automatically released the moment a batch moves to the cabinet — no double-booked stations.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RESTROGRID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123157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1B1E27"/>
          </a:solidFill>
          <a:ln/>
        </p:spPr>
      </p:sp>
      <p:pic>
        <p:nvPicPr>
          <p:cNvPr id="3" name="Image 0" descr="/tmp/build/icons/mapmark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21" y="603961"/>
            <a:ext cx="575158" cy="57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120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600200" y="78638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Multi-location &amp; station management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location has its own stations, staff assignments and menu — all rolling up to one admin view.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4F5F7"/>
          </a:solidFill>
          <a:ln/>
        </p:spPr>
      </p:sp>
      <p:sp>
        <p:nvSpPr>
          <p:cNvPr id="8" name="Shape 5"/>
          <p:cNvSpPr/>
          <p:nvPr/>
        </p:nvSpPr>
        <p:spPr>
          <a:xfrm>
            <a:off x="859536" y="2523744"/>
            <a:ext cx="548640" cy="548640"/>
          </a:xfrm>
          <a:prstGeom prst="ellipse">
            <a:avLst/>
          </a:prstGeom>
          <a:solidFill>
            <a:srgbClr val="FF6A39"/>
          </a:solidFill>
          <a:ln/>
        </p:spPr>
      </p:sp>
      <p:pic>
        <p:nvPicPr>
          <p:cNvPr id="9" name="Image 1" descr="/tmp/build/icons/mapmark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" y="2595067"/>
            <a:ext cx="405994" cy="4059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9536" y="320040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859536" y="3584448"/>
            <a:ext cx="2167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restaurant or cafe branch is fully location-aware across orders, batches, products and stations.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474720" y="228600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4F5F7"/>
          </a:solidFill>
          <a:ln/>
        </p:spPr>
      </p:sp>
      <p:sp>
        <p:nvSpPr>
          <p:cNvPr id="13" name="Shape 9"/>
          <p:cNvSpPr/>
          <p:nvPr/>
        </p:nvSpPr>
        <p:spPr>
          <a:xfrm>
            <a:off x="3694176" y="2523744"/>
            <a:ext cx="548640" cy="548640"/>
          </a:xfrm>
          <a:prstGeom prst="ellipse">
            <a:avLst/>
          </a:prstGeom>
          <a:solidFill>
            <a:srgbClr val="FF6A39"/>
          </a:solidFill>
          <a:ln/>
        </p:spPr>
      </p:sp>
      <p:pic>
        <p:nvPicPr>
          <p:cNvPr id="14" name="Image 2" descr="/tmp/build/icons/laye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499" y="2595067"/>
            <a:ext cx="405994" cy="4059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94176" y="320040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3694176" y="3584448"/>
            <a:ext cx="2167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Grill, prep, fryer, rice, hot cabinet, cashier and KDS stations, each configurable per location.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309360" y="228600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4F5F7"/>
          </a:solidFill>
          <a:ln/>
        </p:spPr>
      </p:sp>
      <p:sp>
        <p:nvSpPr>
          <p:cNvPr id="18" name="Shape 13"/>
          <p:cNvSpPr/>
          <p:nvPr/>
        </p:nvSpPr>
        <p:spPr>
          <a:xfrm>
            <a:off x="6528816" y="2523744"/>
            <a:ext cx="548640" cy="548640"/>
          </a:xfrm>
          <a:prstGeom prst="ellipse">
            <a:avLst/>
          </a:prstGeom>
          <a:solidFill>
            <a:srgbClr val="FF6A39"/>
          </a:solidFill>
          <a:ln/>
        </p:spPr>
      </p:sp>
      <p:pic>
        <p:nvPicPr>
          <p:cNvPr id="19" name="Image 3" descr="/tmp/build/icons/use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139" y="2595067"/>
            <a:ext cx="405994" cy="40599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28816" y="320040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assignments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6528816" y="3584448"/>
            <a:ext cx="2167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assigned to stations as permanent, temporary or shift-based, with priority for defaults.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9144000" y="228600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4F5F7"/>
          </a:solidFill>
          <a:ln/>
        </p:spPr>
      </p:sp>
      <p:sp>
        <p:nvSpPr>
          <p:cNvPr id="23" name="Shape 17"/>
          <p:cNvSpPr/>
          <p:nvPr/>
        </p:nvSpPr>
        <p:spPr>
          <a:xfrm>
            <a:off x="9363456" y="2523744"/>
            <a:ext cx="548640" cy="548640"/>
          </a:xfrm>
          <a:prstGeom prst="ellipse">
            <a:avLst/>
          </a:prstGeom>
          <a:solidFill>
            <a:srgbClr val="FF6A39"/>
          </a:solidFill>
          <a:ln/>
        </p:spPr>
      </p:sp>
      <p:pic>
        <p:nvPicPr>
          <p:cNvPr id="24" name="Image 4" descr="/tmp/build/icons/shiel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4779" y="2595067"/>
            <a:ext cx="405994" cy="40599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363456" y="320040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validation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9363456" y="3584448"/>
            <a:ext cx="2167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Cross-location assignments are checked automatically so staff only work where they're scheduled.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RESTROGRID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3157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9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real-time architecture, not a batch-synced afterthought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change — a new order, a completed batch, a table turning — reaches every screen in under a second.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242835"/>
          </a:solidFill>
          <a:ln w="12700">
            <a:solidFill>
              <a:srgbClr val="343A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95628" y="2441448"/>
            <a:ext cx="603504" cy="603504"/>
          </a:xfrm>
          <a:prstGeom prst="ellipse">
            <a:avLst/>
          </a:prstGeom>
          <a:solidFill>
            <a:srgbClr val="FF6A39"/>
          </a:solidFill>
          <a:ln/>
        </p:spPr>
      </p:sp>
      <p:pic>
        <p:nvPicPr>
          <p:cNvPr id="7" name="Image 0" descr="/tmp/build/icons/serv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4084" y="2519904"/>
            <a:ext cx="446593" cy="4465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685032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12 (PHP 8.2+) with MySQL, structured around locations, stations and orders.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10712" y="214884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242835"/>
          </a:solidFill>
          <a:ln w="12700">
            <a:solidFill>
              <a:srgbClr val="343A4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66260" y="2441448"/>
            <a:ext cx="603504" cy="603504"/>
          </a:xfrm>
          <a:prstGeom prst="ellipse">
            <a:avLst/>
          </a:prstGeom>
          <a:solidFill>
            <a:srgbClr val="FF6A39"/>
          </a:solidFill>
          <a:ln/>
        </p:spPr>
      </p:sp>
      <p:pic>
        <p:nvPicPr>
          <p:cNvPr id="12" name="Image 1" descr="/tmp/build/icons/bol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716" y="2519904"/>
            <a:ext cx="446593" cy="4465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93592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Layer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93592" y="3685032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Pusher WebSockets push order and batch status to every connected screen.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81344" y="214884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242835"/>
          </a:solidFill>
          <a:ln w="12700">
            <a:solidFill>
              <a:srgbClr val="343A4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136892" y="2441448"/>
            <a:ext cx="603504" cy="603504"/>
          </a:xfrm>
          <a:prstGeom prst="ellipse">
            <a:avLst/>
          </a:prstGeom>
          <a:solidFill>
            <a:srgbClr val="FF6A39"/>
          </a:solidFill>
          <a:ln/>
        </p:spPr>
      </p:sp>
      <p:pic>
        <p:nvPicPr>
          <p:cNvPr id="17" name="Image 2" descr="/tmp/build/icons/lapto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348" y="2519904"/>
            <a:ext cx="446593" cy="4465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64224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 End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364224" y="3685032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+ Alpine.js + Tailwind CSS 4, built with Vite for POS, KDS, CDS and admin.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951976" y="214884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242835"/>
          </a:solidFill>
          <a:ln w="12700">
            <a:solidFill>
              <a:srgbClr val="343A4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907524" y="2441448"/>
            <a:ext cx="603504" cy="603504"/>
          </a:xfrm>
          <a:prstGeom prst="ellipse">
            <a:avLst/>
          </a:prstGeom>
          <a:solidFill>
            <a:srgbClr val="FF6A39"/>
          </a:solidFill>
          <a:ln/>
        </p:spPr>
      </p:sp>
      <p:pic>
        <p:nvPicPr>
          <p:cNvPr id="22" name="Image 3" descr="/tmp/build/icons/mobi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980" y="2519904"/>
            <a:ext cx="446593" cy="4465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34856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134856" y="3685032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 covers every station plus the customer order monitor, on any tablet.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RESTROGRID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3157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1B1E27"/>
          </a:solidFill>
          <a:ln/>
        </p:spPr>
      </p:sp>
      <p:pic>
        <p:nvPicPr>
          <p:cNvPr id="3" name="Image 0" descr="/tmp/build/icons/chartlin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21" y="603961"/>
            <a:ext cx="575158" cy="57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120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&amp; INSIGHT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600200" y="78638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Connects to your POS provider and reports on every shift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5087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RestroGrid syncs orders from existing POS platforms and turns operations data into management-ready reports.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31343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8" name="Image 1" descr="/tmp/build/icons/sync_FF6A3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23728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61872" y="223113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 &amp; Loyverse sync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261872" y="255117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orders automatically, with rate-limit-aware pagination.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63640" y="231343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12" name="Image 2" descr="/tmp/build/icons/clock_FF6A3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2372868"/>
            <a:ext cx="338328" cy="3383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85432" y="223113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Timezone-safe by design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885432" y="255117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UTC-to-local conversion is handled server-side, every time.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40080" y="327355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16" name="Image 3" descr="/tmp/build/icons/hourglass_FF6A3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3332988"/>
            <a:ext cx="338328" cy="3383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61872" y="319125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AM business-day cutoff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261872" y="351129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Late-night sales stay on the correct business day, not split at midnight.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263640" y="327355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20" name="Image 4" descr="/tmp/build/icons/chartline_FF6A3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076" y="3332988"/>
            <a:ext cx="338328" cy="33832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85432" y="319125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admin dashboards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6885432" y="351129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volume, station throughput and completion charts, per location.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40080" y="423367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24" name="Image 5" descr="/tmp/build/icons/receipt_FF6A3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" y="4293108"/>
            <a:ext cx="338328" cy="33832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61872" y="415137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&amp; cash drawer reports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1261872" y="447141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Opening/closing cash, variance, and per-cashier shift summaries.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6263640" y="423367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28" name="Image 6" descr="/tmp/build/icons/database_FF6A3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3076" y="4293108"/>
            <a:ext cx="338328" cy="33832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885432" y="415137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product catalog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6885432" y="447141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product, recipe and ingredient model drives POS, KDS and kiosk alike.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RESTROGRID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23157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1B1E27"/>
          </a:solidFill>
          <a:ln/>
        </p:spPr>
      </p:sp>
      <p:pic>
        <p:nvPicPr>
          <p:cNvPr id="3" name="Image 0" descr="/tmp/build/icons/mobi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21" y="603961"/>
            <a:ext cx="575158" cy="57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120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EVERYWHERE STAFF ARE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600200" y="78638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E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Flutter app for every station and every screen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5087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app powers grill, cabinet, cashier and KDS logins, plus the no-login customer order monitor.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31343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8" name="Image 1" descr="/tmp/build/icons/shield_FF6A3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23728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61872" y="223113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PIN-based station login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261872" y="255117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staff login scoped to a specific station and location.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63640" y="231343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12" name="Image 2" descr="/tmp/build/icons/desktop_FF6A3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2372868"/>
            <a:ext cx="338328" cy="3383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85432" y="223113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Full-screen kiosk mode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885432" y="255117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 display mode for customer-facing order monitors.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40080" y="327355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16" name="Image 3" descr="/tmp/build/icons/bolt_FF6A3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3332988"/>
            <a:ext cx="338328" cy="3383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61872" y="319125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order &amp; batch sync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261872" y="351129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real-time feed as the web app — no refresh required.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263640" y="327355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20" name="Image 4" descr="/tmp/build/icons/bell_FF6A3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076" y="3332988"/>
            <a:ext cx="338328" cy="33832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85432" y="319125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Order-ready notifications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6885432" y="351129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and status-driven alerts as tickets move through the kitchen.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40080" y="423367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24" name="Image 5" descr="/tmp/build/icons/tablet_FF6A3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" y="4293108"/>
            <a:ext cx="338328" cy="33832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61872" y="415137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any tablet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1261872" y="447141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to phones, tablets and mounted kitchen displays alike.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6263640" y="4233672"/>
            <a:ext cx="457200" cy="457200"/>
          </a:xfrm>
          <a:prstGeom prst="ellipse">
            <a:avLst/>
          </a:prstGeom>
          <a:solidFill>
            <a:srgbClr val="F4F5F7"/>
          </a:solidFill>
          <a:ln/>
        </p:spPr>
      </p:sp>
      <p:pic>
        <p:nvPicPr>
          <p:cNvPr id="28" name="Image 6" descr="/tmp/build/icons/wifi_FF6A3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3076" y="4293108"/>
            <a:ext cx="338328" cy="33832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885432" y="4151376"/>
            <a:ext cx="4636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on shared networks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6885432" y="4471416"/>
            <a:ext cx="4636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Health-checked WebSocket connection degrades gracefully if offline.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RESTROGRID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23157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FF6A39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9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RestroGrid right now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public site, then step into the full admin control center with the demo account below.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212080" cy="3383280"/>
          </a:xfrm>
          <a:prstGeom prst="roundRect">
            <a:avLst>
              <a:gd name="adj" fmla="val 2162"/>
            </a:avLst>
          </a:prstGeom>
          <a:solidFill>
            <a:srgbClr val="242835"/>
          </a:solidFill>
          <a:ln w="12700">
            <a:solidFill>
              <a:srgbClr val="343A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651760"/>
            <a:ext cx="548640" cy="548640"/>
          </a:xfrm>
          <a:prstGeom prst="ellipse">
            <a:avLst/>
          </a:prstGeom>
          <a:solidFill>
            <a:srgbClr val="FF6A39"/>
          </a:solidFill>
          <a:ln/>
        </p:spPr>
      </p:sp>
      <p:pic>
        <p:nvPicPr>
          <p:cNvPr id="8" name="Image 0" descr="/tmp/build/icons/glob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2723083"/>
            <a:ext cx="405994" cy="4059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6791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645920" y="30449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restrogrid.com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60120" y="3749040"/>
            <a:ext cx="548640" cy="548640"/>
          </a:xfrm>
          <a:prstGeom prst="ellipse">
            <a:avLst/>
          </a:prstGeom>
          <a:solidFill>
            <a:srgbClr val="FF6A39"/>
          </a:solidFill>
          <a:ln/>
        </p:spPr>
      </p:sp>
      <p:pic>
        <p:nvPicPr>
          <p:cNvPr id="12" name="Image 1" descr="/tmp/build/icons/desktop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43" y="3820363"/>
            <a:ext cx="405994" cy="4059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37764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645920" y="41422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restrogrid.com/admin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960120" y="4846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Full-service admin panel covering POS management, KDS, station configuration, reporting and user access — all in one console.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72200" y="233172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FF6A39"/>
          </a:solidFill>
          <a:ln/>
        </p:spPr>
      </p:sp>
      <p:sp>
        <p:nvSpPr>
          <p:cNvPr id="17" name="Shape 13"/>
          <p:cNvSpPr/>
          <p:nvPr/>
        </p:nvSpPr>
        <p:spPr>
          <a:xfrm>
            <a:off x="6492240" y="2651760"/>
            <a:ext cx="548640" cy="548640"/>
          </a:xfrm>
          <a:prstGeom prst="ellipse">
            <a:avLst/>
          </a:prstGeom>
          <a:solidFill>
            <a:srgbClr val="1B1E27"/>
          </a:solidFill>
          <a:ln/>
        </p:spPr>
      </p:sp>
      <p:pic>
        <p:nvPicPr>
          <p:cNvPr id="18" name="Image 2" descr="/tmp/build/icons/shiel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563" y="2723083"/>
            <a:ext cx="405994" cy="40599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78040" y="2697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Credentials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537960" y="35661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537960" y="3840480"/>
            <a:ext cx="4663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2" name="Text 17"/>
          <p:cNvSpPr/>
          <p:nvPr/>
        </p:nvSpPr>
        <p:spPr>
          <a:xfrm>
            <a:off x="6720840" y="38404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admin@example.com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537960" y="45262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A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537960" y="4800600"/>
            <a:ext cx="4663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5" name="Text 20"/>
          <p:cNvSpPr/>
          <p:nvPr/>
        </p:nvSpPr>
        <p:spPr>
          <a:xfrm>
            <a:off x="6720840" y="4800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RESTROGRID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3157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840480"/>
            <a:ext cx="5486400" cy="5486400"/>
          </a:xfrm>
          <a:prstGeom prst="ellipse">
            <a:avLst/>
          </a:prstGeom>
          <a:solidFill>
            <a:srgbClr val="FF6A3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03120" y="-2377440"/>
            <a:ext cx="4572000" cy="4572000"/>
          </a:xfrm>
          <a:prstGeom prst="ellipse">
            <a:avLst/>
          </a:prstGeom>
          <a:solidFill>
            <a:srgbClr val="3A3F4E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916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Restro</a:t>
            </a:r>
            <a:pPr indent="0" marL="0">
              <a:buNone/>
            </a:pPr>
            <a:r>
              <a:rPr lang="en-US" sz="4800" b="1" dirty="0">
                <a:solidFill>
                  <a:srgbClr val="FF6A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kitchen and restaurant operations — POS, KDS, CDS and Kiosk Ordering, unified.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520440"/>
            <a:ext cx="457200" cy="457200"/>
          </a:xfrm>
          <a:prstGeom prst="ellipse">
            <a:avLst/>
          </a:prstGeom>
          <a:solidFill>
            <a:srgbClr val="242835"/>
          </a:solidFill>
          <a:ln/>
        </p:spPr>
      </p:sp>
      <p:pic>
        <p:nvPicPr>
          <p:cNvPr id="7" name="Image 0" descr="/tmp/build/icons/cashregist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3579876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353872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624328" y="3520440"/>
            <a:ext cx="457200" cy="457200"/>
          </a:xfrm>
          <a:prstGeom prst="ellipse">
            <a:avLst/>
          </a:prstGeom>
          <a:solidFill>
            <a:srgbClr val="242835"/>
          </a:solidFill>
          <a:ln/>
        </p:spPr>
      </p:sp>
      <p:pic>
        <p:nvPicPr>
          <p:cNvPr id="10" name="Image 1" descr="/tmp/build/icons/fir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764" y="3579876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172968" y="353872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425696" y="3520440"/>
            <a:ext cx="457200" cy="457200"/>
          </a:xfrm>
          <a:prstGeom prst="ellipse">
            <a:avLst/>
          </a:prstGeom>
          <a:solidFill>
            <a:srgbClr val="242835"/>
          </a:solidFill>
          <a:ln/>
        </p:spPr>
      </p:sp>
      <p:pic>
        <p:nvPicPr>
          <p:cNvPr id="13" name="Image 2" descr="/tmp/build/icons/deskto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132" y="357987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74336" y="353872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227064" y="3520440"/>
            <a:ext cx="457200" cy="457200"/>
          </a:xfrm>
          <a:prstGeom prst="ellipse">
            <a:avLst/>
          </a:prstGeom>
          <a:solidFill>
            <a:srgbClr val="242835"/>
          </a:solidFill>
          <a:ln/>
        </p:spPr>
      </p:sp>
      <p:pic>
        <p:nvPicPr>
          <p:cNvPr id="16" name="Image 3" descr="/tmp/build/icons/table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579876"/>
            <a:ext cx="338328" cy="3383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75704" y="353872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82296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restrogrid.com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22960" y="4800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restrogrid.com/admin  ·  admin@example.com / password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2026-07-21T12:36:03Z</dcterms:created>
  <dcterms:modified xsi:type="dcterms:W3CDTF">2026-07-21T12:36:03Z</dcterms:modified>
</cp:coreProperties>
</file>